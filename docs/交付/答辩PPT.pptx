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88920"/>
          </a:xfrm>
          <a:prstGeom prst="rect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881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</a:rPr>
              <a:t>银行 AI 智能体 · 敢让 Agent 动钱的银行系统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481328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C7D6E4"/>
                </a:solidFill>
                <a:latin typeface="微软雅黑"/>
                <a:ea typeface="微软雅黑"/>
              </a:rPr>
              <a:t>2026 金融科技大赛 · 人工智能赛道 · 国内赛道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971800"/>
            <a:ext cx="649224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spcAft>
                <a:spcPts val="0"/>
              </a:spcAft>
            </a:pPr>
            <a:r>
              <a:rPr sz="1800" b="1">
                <a:solidFill>
                  <a:srgbClr val="16A34A"/>
                </a:solidFill>
                <a:latin typeface="微软雅黑"/>
                <a:ea typeface="微软雅黑"/>
              </a:rPr>
              <a:t>▪ 三色权限闸门</a:t>
            </a:r>
          </a:p>
          <a:p>
            <a:pPr>
              <a:spcBef>
                <a:spcPts val="1000"/>
              </a:spcBef>
              <a:spcAft>
                <a:spcPts val="0"/>
              </a:spcAft>
            </a:pPr>
            <a:r>
              <a:rPr sz="1800" b="1">
                <a:solidFill>
                  <a:srgbClr val="D97706"/>
                </a:solidFill>
                <a:latin typeface="微软雅黑"/>
                <a:ea typeface="微软雅黑"/>
              </a:rPr>
              <a:t>▪ 一次性能力令牌</a:t>
            </a:r>
          </a:p>
          <a:p>
            <a:pPr>
              <a:spcBef>
                <a:spcPts val="1000"/>
              </a:spcBef>
              <a:spcAft>
                <a:spcPts val="0"/>
              </a:spcAft>
            </a:pPr>
            <a:r>
              <a:rPr sz="1800" b="1">
                <a:solidFill>
                  <a:srgbClr val="DC2626"/>
                </a:solidFill>
                <a:latin typeface="微软雅黑"/>
                <a:ea typeface="微软雅黑"/>
              </a:rPr>
              <a:t>▪ 只追加审计哈希链</a:t>
            </a:r>
          </a:p>
          <a:p>
            <a:pPr>
              <a:spcBef>
                <a:spcPts val="1600"/>
              </a:spcBef>
              <a:spcAft>
                <a:spcPts val="0"/>
              </a:spcAft>
            </a:pPr>
            <a:r>
              <a:rPr sz="1250" b="0">
                <a:solidFill>
                  <a:srgbClr val="6B7280"/>
                </a:solidFill>
                <a:latin typeface="微软雅黑"/>
                <a:ea typeface="微软雅黑"/>
              </a:rPr>
              <a:t>仓库 github.com/peng6yu/banking-agent ｜ 一条命令可跑 ｜ 模拟账本 · 全部数据为本地种子虚构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250" b="0">
                <a:solidFill>
                  <a:srgbClr val="6B7280"/>
                </a:solidFill>
                <a:latin typeface="微软雅黑"/>
                <a:ea typeface="微软雅黑"/>
              </a:rPr>
              <a:t>口播：今天不演示「AI 能不能转账」，演示「AI 凭什么可以转账，以及凭什么不能」。</a:t>
            </a:r>
          </a:p>
        </p:txBody>
      </p:sp>
      <p:pic>
        <p:nvPicPr>
          <p:cNvPr id="6" name="Picture 5" descr="main_02_confirm_c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06640" y="2971800"/>
            <a:ext cx="4206240" cy="28041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406640" y="5830823"/>
            <a:ext cx="42062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6B7280"/>
                </a:solidFill>
                <a:latin typeface="微软雅黑"/>
                <a:ea typeface="微软雅黑"/>
              </a:rPr>
              <a:t>决策剧场与确认卡（本机实拍）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309360"/>
            <a:ext cx="1109167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6B7280"/>
                </a:solidFill>
                <a:latin typeface="微软雅黑"/>
                <a:ea typeface="微软雅黑"/>
              </a:rPr>
              <a:t>安全声明见 README.md；本页无运行数据。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6272784"/>
            <a:ext cx="11091672" cy="13716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473952"/>
            <a:ext cx="5852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第 1 / 12 页 · 累计 0:15 / 10:00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35040" y="6473952"/>
            <a:ext cx="56052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banking-agent · 2026 金融科技大赛人工智能赛道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77824"/>
          </a:xfrm>
          <a:prstGeom prst="rect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46304"/>
            <a:ext cx="10424160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FFFFFF"/>
                </a:solidFill>
                <a:latin typeface="微软雅黑"/>
                <a:ea typeface="微软雅黑"/>
              </a:rPr>
              <a:t>痛点与定位：银行敢让它在模拟账本里动钱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69880" y="274320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C7D6E4"/>
                </a:solidFill>
                <a:latin typeface="微软雅黑"/>
                <a:ea typeface="微软雅黑"/>
              </a:rPr>
              <a:t>02 /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115568"/>
            <a:ext cx="110642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900"/>
              </a:spcBef>
              <a:spcAft>
                <a:spcPts val="0"/>
              </a:spcAft>
            </a:pPr>
            <a:r>
              <a:rPr sz="1500" b="0">
                <a:solidFill>
                  <a:srgbClr val="1F2937"/>
                </a:solidFill>
                <a:latin typeface="微软雅黑"/>
                <a:ea typeface="微软雅黑"/>
              </a:rPr>
              <a:t>▪ 银行 App 的 AI 客服只能查：用户每一步都要手动点，业务跑不完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500" b="0">
                <a:solidFill>
                  <a:srgbClr val="1F2937"/>
                </a:solidFill>
                <a:latin typeface="微软雅黑"/>
                <a:ea typeface="微软雅黑"/>
              </a:rPr>
              <a:t>▪ 能转账的「智能体」靠 prompt 约束：prompt 是建议不是边界，被绕过一次就出事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500" b="0">
                <a:solidFill>
                  <a:srgbClr val="1F2937"/>
                </a:solidFill>
                <a:latin typeface="微软雅黑"/>
                <a:ea typeface="微软雅黑"/>
              </a:rPr>
              <a:t>▪ 出事之后查不清：审计散在应用日志里，可改、可删、不可追责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500" b="1">
                <a:solidFill>
                  <a:srgbClr val="DC2626"/>
                </a:solidFill>
                <a:latin typeface="微软雅黑"/>
                <a:ea typeface="微软雅黑"/>
              </a:rPr>
              <a:t>▪ 定位：别人做更会聊天的助手，我们做银行敢让它在模拟账本里动钱的 Agent。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250" b="0">
                <a:solidFill>
                  <a:srgbClr val="6B7280"/>
                </a:solidFill>
                <a:latin typeface="微软雅黑"/>
                <a:ea typeface="微软雅黑"/>
              </a:rPr>
              <a:t>– 三件事同时成立才叫可用：跑得完（40%）／拦得住（30%）／看得见（30%）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250" b="0">
                <a:solidFill>
                  <a:srgbClr val="6B7280"/>
                </a:solidFill>
                <a:latin typeface="微软雅黑"/>
                <a:ea typeface="微软雅黑"/>
              </a:rPr>
              <a:t>– 六个赛题场景全部有真实后端：转账 / 账单 / 理财 / 卡片 / 订阅 / 跨场景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500" b="1">
                <a:solidFill>
                  <a:srgbClr val="16A34A"/>
                </a:solidFill>
                <a:latin typeface="微软雅黑"/>
                <a:ea typeface="微软雅黑"/>
              </a:rPr>
              <a:t>▪ 效率：传统手机银行 3+ 步 → 本系统 1 句 + 1 次确认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250" b="0">
                <a:solidFill>
                  <a:srgbClr val="6B7280"/>
                </a:solidFill>
                <a:latin typeface="微软雅黑"/>
                <a:ea typeface="微软雅黑"/>
              </a:rPr>
              <a:t>– 脚本桩到确认卡 7–8ms；真模型意图解析约 1.5–3s/次（历史实测，非本次复跑）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4041648"/>
            <a:ext cx="2587752" cy="868680"/>
          </a:xfrm>
          <a:prstGeom prst="roundRect">
            <a:avLst/>
          </a:prstGeom>
          <a:solidFill>
            <a:srgbClr val="F3F6F9"/>
          </a:solidFill>
          <a:ln w="9525">
            <a:solidFill>
              <a:srgbClr val="D8DF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4114800"/>
            <a:ext cx="2368296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0F2942"/>
                </a:solidFill>
                <a:latin typeface="微软雅黑"/>
                <a:ea typeface="微软雅黑"/>
              </a:rPr>
              <a:t>6 / 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4553712"/>
            <a:ext cx="236829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赛题场景有真实后端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91840" y="4041648"/>
            <a:ext cx="2587752" cy="868680"/>
          </a:xfrm>
          <a:prstGeom prst="roundRect">
            <a:avLst/>
          </a:prstGeom>
          <a:solidFill>
            <a:srgbClr val="F3F6F9"/>
          </a:solidFill>
          <a:ln w="9525">
            <a:solidFill>
              <a:srgbClr val="D8DF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401568" y="4114800"/>
            <a:ext cx="2368296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0F2942"/>
                </a:solidFill>
                <a:latin typeface="微软雅黑"/>
                <a:ea typeface="微软雅黑"/>
              </a:rPr>
              <a:t>35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01568" y="4553712"/>
            <a:ext cx="236829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受管工具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035040" y="4041648"/>
            <a:ext cx="2587752" cy="868680"/>
          </a:xfrm>
          <a:prstGeom prst="roundRect">
            <a:avLst/>
          </a:prstGeom>
          <a:solidFill>
            <a:srgbClr val="F3F6F9"/>
          </a:solidFill>
          <a:ln w="9525">
            <a:solidFill>
              <a:srgbClr val="D8DF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44768" y="4114800"/>
            <a:ext cx="2368296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0F2942"/>
                </a:solidFill>
                <a:latin typeface="微软雅黑"/>
                <a:ea typeface="微软雅黑"/>
              </a:rPr>
              <a:t>1632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44768" y="4553712"/>
            <a:ext cx="236829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自动化测试通过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778240" y="4041648"/>
            <a:ext cx="2587752" cy="868680"/>
          </a:xfrm>
          <a:prstGeom prst="roundRect">
            <a:avLst/>
          </a:prstGeom>
          <a:solidFill>
            <a:srgbClr val="F3F6F9"/>
          </a:solidFill>
          <a:ln w="9525">
            <a:solidFill>
              <a:srgbClr val="D8DF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887967" y="4114800"/>
            <a:ext cx="2368296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0F2942"/>
                </a:solidFill>
                <a:latin typeface="微软雅黑"/>
                <a:ea typeface="微软雅黑"/>
              </a:rPr>
              <a:t>43 / 43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887967" y="4553712"/>
            <a:ext cx="236829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红队用例通过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5285232"/>
            <a:ext cx="54864" cy="640080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" y="5285232"/>
            <a:ext cx="1088136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1F2937"/>
                </a:solidFill>
                <a:latin typeface="微软雅黑"/>
                <a:ea typeface="微软雅黑"/>
              </a:rPr>
              <a:t>只做到第一件就是玩具；三件一起成立，银行才敢在模拟账本里把动钱权限交给它。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6309360"/>
            <a:ext cx="1109167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6B7280"/>
                </a:solidFill>
                <a:latin typeface="微软雅黑"/>
                <a:ea typeface="微软雅黑"/>
              </a:rPr>
              <a:t>评审权重 40/30/30 见赛题 §4；场景覆盖与边界见 docs/提交物对照表.md §三。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48640" y="6272784"/>
            <a:ext cx="11091672" cy="13716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48640" y="6473952"/>
            <a:ext cx="5852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第 2 / 12 页 · 累计 0:55 / 10:00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035040" y="6473952"/>
            <a:ext cx="56052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banking-agent · 2026 金融科技大赛人工智能赛道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77824"/>
          </a:xfrm>
          <a:prstGeom prst="rect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46304"/>
            <a:ext cx="10424160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FFFFFF"/>
                </a:solidFill>
                <a:latin typeface="微软雅黑"/>
                <a:ea typeface="微软雅黑"/>
              </a:rPr>
              <a:t>六个场景：六类能力都有真实后端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69880" y="274320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C7D6E4"/>
                </a:solidFill>
                <a:latin typeface="微软雅黑"/>
                <a:ea typeface="微软雅黑"/>
              </a:rPr>
              <a:t>03 /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115568"/>
            <a:ext cx="50749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0"/>
              </a:spcAft>
            </a:pPr>
            <a:r>
              <a:rPr sz="1280" b="0">
                <a:solidFill>
                  <a:srgbClr val="1F2937"/>
                </a:solidFill>
                <a:latin typeface="微软雅黑"/>
                <a:ea typeface="微软雅黑"/>
              </a:rPr>
              <a:t>▪ ① 转账：人名/手机号/尾号消歧、AA 拆分、定时、冲正</a:t>
            </a:r>
          </a:p>
          <a:p>
            <a:pPr>
              <a:spcBef>
                <a:spcPts val="800"/>
              </a:spcBef>
              <a:spcAft>
                <a:spcPts val="0"/>
              </a:spcAft>
            </a:pPr>
            <a:r>
              <a:rPr sz="1280" b="0">
                <a:solidFill>
                  <a:srgbClr val="1F2937"/>
                </a:solidFill>
                <a:latin typeface="微软雅黑"/>
                <a:ea typeface="微软雅黑"/>
              </a:rPr>
              <a:t>▪ ② 账单：月/年分类、Top 商户、三类异常</a:t>
            </a:r>
          </a:p>
          <a:p>
            <a:pPr>
              <a:spcBef>
                <a:spcPts val="800"/>
              </a:spcBef>
              <a:spcAft>
                <a:spcPts val="0"/>
              </a:spcAft>
            </a:pPr>
            <a:r>
              <a:rPr sz="1280" b="0">
                <a:solidFill>
                  <a:srgbClr val="1F2937"/>
                </a:solidFill>
                <a:latin typeface="微软雅黑"/>
                <a:ea typeface="微软雅黑"/>
              </a:rPr>
              <a:t>▪ ③ 理财：5 题适当性 → C1–C5、拒售、申购/赎回红灯</a:t>
            </a:r>
          </a:p>
          <a:p>
            <a:pPr>
              <a:spcBef>
                <a:spcPts val="800"/>
              </a:spcBef>
              <a:spcAft>
                <a:spcPts val="0"/>
              </a:spcAft>
            </a:pPr>
            <a:r>
              <a:rPr sz="1280" b="0">
                <a:solidFill>
                  <a:srgbClr val="1F2937"/>
                </a:solidFill>
                <a:latin typeface="微软雅黑"/>
                <a:ea typeface="微软雅黑"/>
              </a:rPr>
              <a:t>▪ ④ 卡片：虚拟卡、限额、冻结/解冻、挂失、改密、销卡</a:t>
            </a:r>
          </a:p>
          <a:p>
            <a:pPr>
              <a:spcBef>
                <a:spcPts val="800"/>
              </a:spcBef>
              <a:spcAft>
                <a:spcPts val="0"/>
              </a:spcAft>
            </a:pPr>
            <a:r>
              <a:rPr sz="1280" b="0">
                <a:solidFill>
                  <a:srgbClr val="1F2937"/>
                </a:solidFill>
                <a:latin typeface="微软雅黑"/>
                <a:ea typeface="微软雅黑"/>
              </a:rPr>
              <a:t>▪ ⑤ 订阅：流水推断 + 7 天内扣费 + 唯一匹配取消</a:t>
            </a:r>
          </a:p>
          <a:p>
            <a:pPr>
              <a:spcBef>
                <a:spcPts val="800"/>
              </a:spcBef>
              <a:spcAft>
                <a:spcPts val="0"/>
              </a:spcAft>
            </a:pPr>
            <a:r>
              <a:rPr sz="1280" b="0">
                <a:solidFill>
                  <a:srgbClr val="1F2937"/>
                </a:solidFill>
                <a:latin typeface="微软雅黑"/>
                <a:ea typeface="微软雅黑"/>
              </a:rPr>
              <a:t>▪ ⑥ 跨场景：生日计划 → 预算预留 → 到点提醒/授权</a:t>
            </a:r>
          </a:p>
          <a:p>
            <a:pPr>
              <a:spcBef>
                <a:spcPts val="300"/>
              </a:spcBef>
              <a:spcAft>
                <a:spcPts val="0"/>
              </a:spcAft>
            </a:pPr>
            <a:r>
              <a:rPr sz="1120" b="0">
                <a:solidFill>
                  <a:srgbClr val="6B7280"/>
                </a:solidFill>
                <a:latin typeface="微软雅黑"/>
                <a:ea typeface="微软雅黑"/>
              </a:rPr>
              <a:t>– 全部数字来自后端只读接口；取不到显示「暂不可用」，不垫示例数据。</a:t>
            </a:r>
          </a:p>
          <a:p>
            <a:pPr>
              <a:spcBef>
                <a:spcPts val="300"/>
              </a:spcBef>
              <a:spcAft>
                <a:spcPts val="0"/>
              </a:spcAft>
            </a:pPr>
            <a:r>
              <a:rPr sz="1120" b="1">
                <a:solidFill>
                  <a:srgbClr val="DC2626"/>
                </a:solidFill>
                <a:latin typeface="微软雅黑"/>
                <a:ea typeface="微软雅黑"/>
              </a:rPr>
              <a:t>– 边界：3 理财无横向对比/持仓收益；5 订阅无推送；6 到点只提醒 —— 不把 6/6 说成产品级</a:t>
            </a:r>
          </a:p>
        </p:txBody>
      </p:sp>
      <p:pic>
        <p:nvPicPr>
          <p:cNvPr id="6" name="Picture 5" descr="overview_deskt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62829" y="1115568"/>
            <a:ext cx="4476540" cy="452628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806440" y="5715000"/>
            <a:ext cx="5989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6B7280"/>
                </a:solidFill>
                <a:latin typeface="微软雅黑"/>
                <a:ea typeface="微软雅黑"/>
              </a:rPr>
              <a:t>财务总览：余额 / 收支 / 异常 / 计划，全部来自后端接口（本机实拍）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309360"/>
            <a:ext cx="1109167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6B7280"/>
                </a:solidFill>
                <a:latin typeface="微软雅黑"/>
                <a:ea typeface="微软雅黑"/>
              </a:rPr>
              <a:t>场景实现与测试见 docs/提交物对照表.md §三；截图 scripts/ui_screenshots.py 产出。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6272784"/>
            <a:ext cx="11091672" cy="13716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473952"/>
            <a:ext cx="5852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第 3 / 12 页 · 累计 1:45 / 10:00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35040" y="6473952"/>
            <a:ext cx="56052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banking-agent · 2026 金融科技大赛人工智能赛道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77824"/>
          </a:xfrm>
          <a:prstGeom prst="rect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46304"/>
            <a:ext cx="10424160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FFFFFF"/>
                </a:solidFill>
                <a:latin typeface="微软雅黑"/>
                <a:ea typeface="微软雅黑"/>
              </a:rPr>
              <a:t>三段论：模型永远碰不到钱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69880" y="274320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C7D6E4"/>
                </a:solidFill>
                <a:latin typeface="微软雅黑"/>
                <a:ea typeface="微软雅黑"/>
              </a:rPr>
              <a:t>04 / 12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188720"/>
            <a:ext cx="11091672" cy="3429000"/>
          </a:xfrm>
          <a:prstGeom prst="rect">
            <a:avLst/>
          </a:prstGeom>
          <a:solidFill>
            <a:srgbClr val="F3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85800" y="1508760"/>
            <a:ext cx="3154680" cy="25146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50392" y="1609344"/>
            <a:ext cx="28346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DC2626"/>
                </a:solidFill>
                <a:latin typeface="微软雅黑"/>
                <a:ea typeface="微软雅黑"/>
              </a:rPr>
              <a:t>不可信区 LLM 意图/规划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392" y="2139696"/>
            <a:ext cx="283464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微软雅黑"/>
                <a:ea typeface="微软雅黑"/>
              </a:rPr>
              <a:t>只产出「申请」：</a:t>
            </a:r>
          </a:p>
          <a:p>
            <a:pPr>
              <a:spcBef>
                <a:spcPts val="600"/>
              </a:spcBef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微软雅黑"/>
                <a:ea typeface="微软雅黑"/>
              </a:rPr>
              <a:t>意图 + 槽位 + DAG</a:t>
            </a:r>
          </a:p>
          <a:p>
            <a:pPr>
              <a:spcBef>
                <a:spcPts val="600"/>
              </a:spcBef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微软雅黑"/>
                <a:ea typeface="微软雅黑"/>
              </a:rPr>
              <a:t>不产出「执行」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26280" y="1508760"/>
            <a:ext cx="3154680" cy="25146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D9770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90872" y="1609344"/>
            <a:ext cx="28346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D97706"/>
                </a:solidFill>
                <a:latin typeface="微软雅黑"/>
                <a:ea typeface="微软雅黑"/>
              </a:rPr>
              <a:t>裁决区 PolicyEngine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90872" y="2139696"/>
            <a:ext cx="283464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微软雅黑"/>
                <a:ea typeface="微软雅黑"/>
              </a:rPr>
              <a:t>确定性纯函数：</a:t>
            </a:r>
          </a:p>
          <a:p>
            <a:pPr>
              <a:spcBef>
                <a:spcPts val="600"/>
              </a:spcBef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微软雅黑"/>
                <a:ea typeface="微软雅黑"/>
              </a:rPr>
              <a:t>无网络、无模型</a:t>
            </a:r>
          </a:p>
          <a:p>
            <a:pPr>
              <a:spcBef>
                <a:spcPts val="600"/>
              </a:spcBef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微软雅黑"/>
                <a:ea typeface="微软雅黑"/>
              </a:rPr>
              <a:t>三色判定 + 签发令牌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366760" y="1508760"/>
            <a:ext cx="3154680" cy="25146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16A3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531352" y="1609344"/>
            <a:ext cx="28346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6A34A"/>
                </a:solidFill>
                <a:latin typeface="微软雅黑"/>
                <a:ea typeface="微软雅黑"/>
              </a:rPr>
              <a:t>执行区 工具/资金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31352" y="2139696"/>
            <a:ext cx="283464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微软雅黑"/>
                <a:ea typeface="微软雅黑"/>
              </a:rPr>
              <a:t>只认令牌，无令牌不动</a:t>
            </a:r>
          </a:p>
          <a:p>
            <a:pPr>
              <a:spcBef>
                <a:spcPts val="600"/>
              </a:spcBef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微软雅黑"/>
                <a:ea typeface="微软雅黑"/>
              </a:rPr>
              <a:t>hold → commit 两阶段</a:t>
            </a:r>
          </a:p>
          <a:p>
            <a:pPr>
              <a:spcBef>
                <a:spcPts val="600"/>
              </a:spcBef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微软雅黑"/>
                <a:ea typeface="微软雅黑"/>
              </a:rPr>
              <a:t>审计哈希链只增不改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3931920" y="2651760"/>
            <a:ext cx="457200" cy="457200"/>
          </a:xfrm>
          <a:prstGeom prst="rightArrow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ight Arrow 15"/>
          <p:cNvSpPr/>
          <p:nvPr/>
        </p:nvSpPr>
        <p:spPr>
          <a:xfrm>
            <a:off x="7772400" y="2651760"/>
            <a:ext cx="457200" cy="457200"/>
          </a:xfrm>
          <a:prstGeom prst="rightArrow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777240" y="4224528"/>
            <a:ext cx="10607040" cy="502920"/>
          </a:xfrm>
          <a:prstGeom prst="roundRect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297680"/>
            <a:ext cx="103327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微软雅黑"/>
                <a:ea typeface="微软雅黑"/>
              </a:rPr>
              <a:t>决策剧场（SSE 实时流式）　＋　审计哈希链（只增不改、可追责）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6309360"/>
            <a:ext cx="1109167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6B7280"/>
                </a:solidFill>
                <a:latin typeface="微软雅黑"/>
                <a:ea typeface="微软雅黑"/>
              </a:rPr>
              <a:t>出处：app/main.py / app/policy/rules.py / app/security/token.py；架构见 docs/技术文档.md §2。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8640" y="6272784"/>
            <a:ext cx="11091672" cy="13716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48640" y="6473952"/>
            <a:ext cx="5852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第 4 / 12 页 · 累计 2:30 / 10:00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35040" y="6473952"/>
            <a:ext cx="56052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banking-agent · 2026 金融科技大赛人工智能赛道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77824"/>
          </a:xfrm>
          <a:prstGeom prst="rect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46304"/>
            <a:ext cx="10424160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FFFFFF"/>
                </a:solidFill>
                <a:latin typeface="微软雅黑"/>
                <a:ea typeface="微软雅黑"/>
              </a:rPr>
              <a:t>决策剧场：一句话，看到它凭什么被批准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69880" y="274320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C7D6E4"/>
                </a:solidFill>
                <a:latin typeface="微软雅黑"/>
                <a:ea typeface="微软雅黑"/>
              </a:rPr>
              <a:t>05 /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115568"/>
            <a:ext cx="50749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0"/>
              </a:spcAft>
            </a:pPr>
            <a:r>
              <a:rPr sz="1280" b="0">
                <a:solidFill>
                  <a:srgbClr val="1F2937"/>
                </a:solidFill>
                <a:latin typeface="微软雅黑"/>
                <a:ea typeface="微软雅黑"/>
              </a:rPr>
              <a:t>▪ 左栏说话，右栏五块同屏：意图 / DAG / 三色 / 因子 / 审计</a:t>
            </a:r>
          </a:p>
          <a:p>
            <a:pPr>
              <a:spcBef>
                <a:spcPts val="800"/>
              </a:spcBef>
              <a:spcAft>
                <a:spcPts val="0"/>
              </a:spcAft>
            </a:pPr>
            <a:r>
              <a:rPr sz="1280" b="0">
                <a:solidFill>
                  <a:srgbClr val="6B7280"/>
                </a:solidFill>
                <a:latin typeface="微软雅黑"/>
                <a:ea typeface="微软雅黑"/>
              </a:rPr>
              <a:t>▪ SSE 流式：start / intent / trace / confirm / factor / tool / done / error</a:t>
            </a:r>
          </a:p>
          <a:p>
            <a:pPr>
              <a:spcBef>
                <a:spcPts val="800"/>
              </a:spcBef>
              <a:spcAft>
                <a:spcPts val="0"/>
              </a:spcAft>
            </a:pPr>
            <a:r>
              <a:rPr sz="1280" b="1">
                <a:solidFill>
                  <a:srgbClr val="16A34A"/>
                </a:solidFill>
                <a:latin typeface="微软雅黑"/>
                <a:ea typeface="微软雅黑"/>
              </a:rPr>
              <a:t>▪ 零依赖单文件前端：无 CDN / 无框架 / 无构建；断网也能演</a:t>
            </a:r>
          </a:p>
          <a:p>
            <a:pPr>
              <a:spcBef>
                <a:spcPts val="300"/>
              </a:spcBef>
              <a:spcAft>
                <a:spcPts val="0"/>
              </a:spcAft>
            </a:pPr>
            <a:r>
              <a:rPr sz="1120" b="0">
                <a:solidFill>
                  <a:srgbClr val="6B7280"/>
                </a:solidFill>
                <a:latin typeface="微软雅黑"/>
                <a:ea typeface="微软雅黑"/>
              </a:rPr>
              <a:t>– 静态合规检查 66/66；7 条浏览器旅程逐条断言 DOM + 服务端状态</a:t>
            </a:r>
          </a:p>
          <a:p>
            <a:pPr>
              <a:spcBef>
                <a:spcPts val="800"/>
              </a:spcBef>
              <a:spcAft>
                <a:spcPts val="0"/>
              </a:spcAft>
            </a:pPr>
            <a:r>
              <a:rPr sz="1280" b="0">
                <a:solidFill>
                  <a:srgbClr val="D97706"/>
                </a:solidFill>
                <a:latin typeface="微软雅黑"/>
                <a:ea typeface="微软雅黑"/>
              </a:rPr>
              <a:t>▪ 同名收款人：两个「张三」必须停下来问，模型无权替用户选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5394960"/>
            <a:ext cx="54864" cy="548640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5394960"/>
            <a:ext cx="4572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微软雅黑"/>
                <a:ea typeface="微软雅黑"/>
              </a:rPr>
              <a:t>评委不用翻日志，就看它凭什么。</a:t>
            </a:r>
          </a:p>
        </p:txBody>
      </p:sp>
      <p:pic>
        <p:nvPicPr>
          <p:cNvPr id="8" name="Picture 7" descr="main_02_confirm_c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6440" y="1115568"/>
            <a:ext cx="5989320" cy="3992879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806440" y="5181599"/>
            <a:ext cx="5989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6B7280"/>
                </a:solidFill>
                <a:latin typeface="微软雅黑"/>
                <a:ea typeface="微软雅黑"/>
              </a:rPr>
              <a:t>确认卡与决策剧场：金额 500.00、收款人尾号 6620、有效期 120 秒（本机实拍）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309360"/>
            <a:ext cx="1109167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6B7280"/>
                </a:solidFill>
                <a:latin typeface="微软雅黑"/>
                <a:ea typeface="微软雅黑"/>
              </a:rPr>
              <a:t>出处：web/index.html；66/66 为 scripts/check_frontend.py 实测；旅程见 docs/交付/browser_journeys.json。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6272784"/>
            <a:ext cx="11091672" cy="13716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73952"/>
            <a:ext cx="5852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第 5 / 12 页 · 累计 3:30 / 10:00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35040" y="6473952"/>
            <a:ext cx="56052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banking-agent · 2026 金融科技大赛人工智能赛道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77824"/>
          </a:xfrm>
          <a:prstGeom prst="rect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46304"/>
            <a:ext cx="10424160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FFFFFF"/>
                </a:solidFill>
                <a:latin typeface="微软雅黑"/>
                <a:ea typeface="微软雅黑"/>
              </a:rPr>
              <a:t>三色闸门与日累计：边界写死在代码里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69880" y="274320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C7D6E4"/>
                </a:solidFill>
                <a:latin typeface="微软雅黑"/>
                <a:ea typeface="微软雅黑"/>
              </a:rPr>
              <a:t>06 /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115568"/>
            <a:ext cx="50749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0"/>
              </a:spcAft>
            </a:pPr>
            <a:r>
              <a:rPr sz="1280" b="1">
                <a:solidFill>
                  <a:srgbClr val="16A34A"/>
                </a:solidFill>
                <a:latin typeface="微软雅黑"/>
                <a:ea typeface="微软雅黑"/>
              </a:rPr>
              <a:t>▪ 🟢 R01 只读：余额/流水/账单/订阅/卡 → 自动执行</a:t>
            </a:r>
          </a:p>
          <a:p>
            <a:pPr>
              <a:spcBef>
                <a:spcPts val="800"/>
              </a:spcBef>
              <a:spcAft>
                <a:spcPts val="0"/>
              </a:spcAft>
            </a:pPr>
            <a:r>
              <a:rPr sz="1280" b="0">
                <a:solidFill>
                  <a:srgbClr val="D97706"/>
                </a:solidFill>
                <a:latin typeface="微软雅黑"/>
                <a:ea typeface="微软雅黑"/>
              </a:rPr>
              <a:t>▪ 🟡 R06：日累计 ≤1000 元 → 一次确认，令牌 120 秒</a:t>
            </a:r>
          </a:p>
          <a:p>
            <a:pPr>
              <a:spcBef>
                <a:spcPts val="800"/>
              </a:spcBef>
              <a:spcAft>
                <a:spcPts val="0"/>
              </a:spcAft>
            </a:pPr>
            <a:r>
              <a:rPr sz="1280" b="1">
                <a:solidFill>
                  <a:srgbClr val="DC2626"/>
                </a:solidFill>
                <a:latin typeface="微软雅黑"/>
                <a:ea typeface="微软雅黑"/>
              </a:rPr>
              <a:t>▪ 🔴 R07–R10：越线/大额/挂失/申购 → 人脸+短信</a:t>
            </a:r>
          </a:p>
          <a:p>
            <a:pPr>
              <a:spcBef>
                <a:spcPts val="300"/>
              </a:spcBef>
              <a:spcAft>
                <a:spcPts val="0"/>
              </a:spcAft>
            </a:pPr>
            <a:r>
              <a:rPr sz="1120" b="0">
                <a:solidFill>
                  <a:srgbClr val="6B7280"/>
                </a:solidFill>
                <a:latin typeface="微软雅黑"/>
                <a:ea typeface="微软雅黑"/>
              </a:rPr>
              <a:t>– 日累计按「用户」而非账户：999.99 黄 / 1000.00 黄 / 1000.01 红</a:t>
            </a:r>
          </a:p>
          <a:p>
            <a:pPr>
              <a:spcBef>
                <a:spcPts val="300"/>
              </a:spcBef>
              <a:spcAft>
                <a:spcPts val="0"/>
              </a:spcAft>
            </a:pPr>
            <a:r>
              <a:rPr sz="1120" b="0">
                <a:solidFill>
                  <a:srgbClr val="6B7280"/>
                </a:solidFill>
                <a:latin typeface="微软雅黑"/>
                <a:ea typeface="微软雅黑"/>
              </a:rPr>
              <a:t>– 越线不是拒绝线：红色强验证通过后真实出账；绝对上限 R13 默认关闭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5394960"/>
            <a:ext cx="54864" cy="548640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5394960"/>
            <a:ext cx="4572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微软雅黑"/>
                <a:ea typeface="微软雅黑"/>
              </a:rPr>
              <a:t>颜色不是模型给的，是裁决区的纯函数给的。</a:t>
            </a:r>
          </a:p>
        </p:txBody>
      </p:sp>
      <p:pic>
        <p:nvPicPr>
          <p:cNvPr id="8" name="Picture 7" descr="main_04_red_mf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6440" y="1115568"/>
            <a:ext cx="5989320" cy="441296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806440" y="5601684"/>
            <a:ext cx="5989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6B7280"/>
                </a:solidFill>
                <a:latin typeface="微软雅黑"/>
                <a:ea typeface="微软雅黑"/>
              </a:rPr>
              <a:t>红灯：服务端签发两个挑战，验过才出账（本机实拍）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309360"/>
            <a:ext cx="1109167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6B7280"/>
                </a:solidFill>
                <a:latin typeface="微软雅黑"/>
                <a:ea typeface="微软雅黑"/>
              </a:rPr>
              <a:t>出处：app/policy/rules.py（R01–R13，R13 默认 None）；tests/test_daily_risk_tiers.py（14 条）。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6272784"/>
            <a:ext cx="11091672" cy="13716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73952"/>
            <a:ext cx="5852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第 6 / 12 页 · 累计 4:20 / 10:00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35040" y="6473952"/>
            <a:ext cx="56052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banking-agent · 2026 金融科技大赛人工智能赛道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77824"/>
          </a:xfrm>
          <a:prstGeom prst="rect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46304"/>
            <a:ext cx="10424160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FFFFFF"/>
                </a:solidFill>
                <a:latin typeface="微软雅黑"/>
                <a:ea typeface="微软雅黑"/>
              </a:rPr>
              <a:t>能力令牌：把模型换成恶意的也动不了钱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69880" y="274320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C7D6E4"/>
                </a:solidFill>
                <a:latin typeface="微软雅黑"/>
                <a:ea typeface="微软雅黑"/>
              </a:rPr>
              <a:t>07 /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115568"/>
            <a:ext cx="110642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900"/>
              </a:spcBef>
              <a:spcAft>
                <a:spcPts val="0"/>
              </a:spcAft>
            </a:pPr>
            <a:r>
              <a:rPr sz="1500" b="1">
                <a:solidFill>
                  <a:srgbClr val="DC2626"/>
                </a:solidFill>
                <a:latin typeface="微软雅黑"/>
                <a:ea typeface="微软雅黑"/>
              </a:rPr>
              <a:t>▪ 七步校验：字段齐备 → HMAC 签名 → 未过期 → nonce 未用过 → 工具一致 → 参数指纹 → 账户/金额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250" b="0">
                <a:solidFill>
                  <a:srgbClr val="6B7280"/>
                </a:solidFill>
                <a:latin typeface="微软雅黑"/>
                <a:ea typeface="微软雅黑"/>
              </a:rPr>
              <a:t>– 120 秒、一次性；换收款人、换工具、改金额都等于换一笔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500" b="0">
                <a:solidFill>
                  <a:srgbClr val="D97706"/>
                </a:solidFill>
                <a:latin typeface="微软雅黑"/>
                <a:ea typeface="微软雅黑"/>
              </a:rPr>
              <a:t>▪ 密钥改错：确认卡照常弹出，点确认立刻 MISSING_CAPABILITY —— 一分钱不动，拒绝进审计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500" b="0">
                <a:solidFill>
                  <a:srgbClr val="D97706"/>
                </a:solidFill>
                <a:latin typeface="微软雅黑"/>
                <a:ea typeface="微软雅黑"/>
              </a:rPr>
              <a:t>▪ MOCK_MODE=true 固定恶意计划（转出全部余额）：意图判 unknown → 反问，零工具调用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500" b="1">
                <a:solidFill>
                  <a:srgbClr val="16A34A"/>
                </a:solidFill>
                <a:latin typeface="微软雅黑"/>
                <a:ea typeface="微软雅黑"/>
              </a:rPr>
              <a:t>▪ 模型可换，闸门不可换：换模型只影响「说得好不好」，不影响「能不能动钱」。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4041648"/>
            <a:ext cx="2587752" cy="868680"/>
          </a:xfrm>
          <a:prstGeom prst="roundRect">
            <a:avLst/>
          </a:prstGeom>
          <a:solidFill>
            <a:srgbClr val="F3F6F9"/>
          </a:solidFill>
          <a:ln w="9525">
            <a:solidFill>
              <a:srgbClr val="D8DF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4114800"/>
            <a:ext cx="2368296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0F2942"/>
                </a:solidFill>
                <a:latin typeface="微软雅黑"/>
                <a:ea typeface="微软雅黑"/>
              </a:rPr>
              <a:t>7 步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4553712"/>
            <a:ext cx="236829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令牌逐项校验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91840" y="4041648"/>
            <a:ext cx="2587752" cy="868680"/>
          </a:xfrm>
          <a:prstGeom prst="roundRect">
            <a:avLst/>
          </a:prstGeom>
          <a:solidFill>
            <a:srgbClr val="F3F6F9"/>
          </a:solidFill>
          <a:ln w="9525">
            <a:solidFill>
              <a:srgbClr val="D8DF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401568" y="4114800"/>
            <a:ext cx="2368296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0F2942"/>
                </a:solidFill>
                <a:latin typeface="微软雅黑"/>
                <a:ea typeface="微软雅黑"/>
              </a:rPr>
              <a:t>120 秒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01568" y="4553712"/>
            <a:ext cx="236829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一次性有效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035040" y="4041648"/>
            <a:ext cx="2587752" cy="868680"/>
          </a:xfrm>
          <a:prstGeom prst="roundRect">
            <a:avLst/>
          </a:prstGeom>
          <a:solidFill>
            <a:srgbClr val="F3F6F9"/>
          </a:solidFill>
          <a:ln w="9525">
            <a:solidFill>
              <a:srgbClr val="D8DF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44768" y="4114800"/>
            <a:ext cx="2368296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0F2942"/>
                </a:solidFill>
                <a:latin typeface="微软雅黑"/>
                <a:ea typeface="微软雅黑"/>
              </a:rPr>
              <a:t>0 元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44768" y="4553712"/>
            <a:ext cx="236829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无令牌可动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778240" y="4041648"/>
            <a:ext cx="2587752" cy="868680"/>
          </a:xfrm>
          <a:prstGeom prst="roundRect">
            <a:avLst/>
          </a:prstGeom>
          <a:solidFill>
            <a:srgbClr val="F3F6F9"/>
          </a:solidFill>
          <a:ln w="9525">
            <a:solidFill>
              <a:srgbClr val="D8DF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887967" y="4114800"/>
            <a:ext cx="2368296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0F2942"/>
                </a:solidFill>
                <a:latin typeface="微软雅黑"/>
                <a:ea typeface="微软雅黑"/>
              </a:rPr>
              <a:t>100%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887967" y="4553712"/>
            <a:ext cx="236829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拒绝都留审计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5285232"/>
            <a:ext cx="54864" cy="640080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" y="5285232"/>
            <a:ext cx="1088136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1F2937"/>
                </a:solidFill>
                <a:latin typeface="微软雅黑"/>
                <a:ea typeface="微软雅黑"/>
              </a:rPr>
              <a:t>prompt 被绕过一次，系统最多变难用；令牌被绕过一次，连一分钱都动不了。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6309360"/>
            <a:ext cx="1109167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6B7280"/>
                </a:solidFill>
                <a:latin typeface="微软雅黑"/>
                <a:ea typeface="微软雅黑"/>
              </a:rPr>
              <a:t>出处：app/security/token.py 七步校验；MOCK_MODE 见 README「离线与对抗演示」；tests/test_token.py。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48640" y="6272784"/>
            <a:ext cx="11091672" cy="13716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48640" y="6473952"/>
            <a:ext cx="5852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第 7 / 12 页 · 累计 5:10 / 10:00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035040" y="6473952"/>
            <a:ext cx="56052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banking-agent · 2026 金融科技大赛人工智能赛道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77824"/>
          </a:xfrm>
          <a:prstGeom prst="rect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46304"/>
            <a:ext cx="10424160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FFFFFF"/>
                </a:solidFill>
                <a:latin typeface="微软雅黑"/>
                <a:ea typeface="微软雅黑"/>
              </a:rPr>
              <a:t>审计哈希链：出了事查得清，而且可验证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69880" y="274320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C7D6E4"/>
                </a:solidFill>
                <a:latin typeface="微软雅黑"/>
                <a:ea typeface="微软雅黑"/>
              </a:rPr>
              <a:t>08 /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115568"/>
            <a:ext cx="50749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0"/>
              </a:spcAft>
            </a:pPr>
            <a:r>
              <a:rPr sz="1280" b="0">
                <a:solidFill>
                  <a:srgbClr val="1F2937"/>
                </a:solidFill>
                <a:latin typeface="微软雅黑"/>
                <a:ea typeface="微软雅黑"/>
              </a:rPr>
              <a:t>▪ 每条：seq / ts / session / event / payload / prev_hash / hash</a:t>
            </a:r>
          </a:p>
          <a:p>
            <a:pPr>
              <a:spcBef>
                <a:spcPts val="800"/>
              </a:spcBef>
              <a:spcAft>
                <a:spcPts val="0"/>
              </a:spcAft>
            </a:pPr>
            <a:r>
              <a:rPr sz="1280" b="1">
                <a:solidFill>
                  <a:srgbClr val="16A34A"/>
                </a:solidFill>
                <a:latin typeface="微软雅黑"/>
                <a:ea typeface="微软雅黑"/>
              </a:rPr>
              <a:t>▪ hash = sha256(prev_hash + ts + event + payload)；触发器禁 UPDATE/DELETE</a:t>
            </a:r>
          </a:p>
          <a:p>
            <a:pPr>
              <a:spcBef>
                <a:spcPts val="800"/>
              </a:spcBef>
              <a:spcAft>
                <a:spcPts val="0"/>
              </a:spcAft>
            </a:pPr>
            <a:r>
              <a:rPr sz="1280" b="0">
                <a:solidFill>
                  <a:srgbClr val="1F2937"/>
                </a:solidFill>
                <a:latin typeface="微软雅黑"/>
                <a:ea typeface="微软雅黑"/>
              </a:rPr>
              <a:t>▪ 一条转账 11 个事件全链可回放；/api/audit/verify 返回 ok=true</a:t>
            </a:r>
          </a:p>
          <a:p>
            <a:pPr>
              <a:spcBef>
                <a:spcPts val="300"/>
              </a:spcBef>
              <a:spcAft>
                <a:spcPts val="0"/>
              </a:spcAft>
            </a:pPr>
            <a:r>
              <a:rPr sz="1120" b="0">
                <a:solidFill>
                  <a:srgbClr val="6B7280"/>
                </a:solidFill>
                <a:latin typeface="微软雅黑"/>
                <a:ea typeface="微软雅黑"/>
              </a:rPr>
              <a:t>– 66 类事件闭集：写不进白名单的名字会被拒绝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5394960"/>
            <a:ext cx="54864" cy="548640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5394960"/>
            <a:ext cx="4572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微软雅黑"/>
                <a:ea typeface="微软雅黑"/>
              </a:rPr>
              <a:t>安全不是「挡住了多少」，是「失败时往哪边倒、事后能不能查」。</a:t>
            </a:r>
          </a:p>
        </p:txBody>
      </p:sp>
      <p:pic>
        <p:nvPicPr>
          <p:cNvPr id="8" name="Picture 7" descr="security_deskt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6440" y="1115568"/>
            <a:ext cx="5989320" cy="4059427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806440" y="5248147"/>
            <a:ext cx="5989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6B7280"/>
                </a:solidFill>
                <a:latin typeface="微软雅黑"/>
                <a:ea typeface="微软雅黑"/>
              </a:rPr>
              <a:t>执行记录与安全：审计链可逐条展开（本机实拍）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309360"/>
            <a:ext cx="1109167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6B7280"/>
                </a:solidFill>
                <a:latin typeface="微软雅黑"/>
                <a:ea typeface="微软雅黑"/>
              </a:rPr>
              <a:t>出处：app/audit.py（哈希链与只增不改触发器）；tests/test_audit.py；66 类见 EVENT_TYPES。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6272784"/>
            <a:ext cx="11091672" cy="13716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73952"/>
            <a:ext cx="5852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第 8 / 12 页 · 累计 5:50 / 10:00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35040" y="6473952"/>
            <a:ext cx="56052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banking-agent · 2026 金融科技大赛人工智能赛道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77824"/>
          </a:xfrm>
          <a:prstGeom prst="rect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46304"/>
            <a:ext cx="10424160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FFFFFF"/>
                </a:solidFill>
                <a:latin typeface="微软雅黑"/>
                <a:ea typeface="微软雅黑"/>
              </a:rPr>
              <a:t>跨场景：生日计划不是一次性 DAG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69880" y="274320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C7D6E4"/>
                </a:solidFill>
                <a:latin typeface="微软雅黑"/>
                <a:ea typeface="微软雅黑"/>
              </a:rPr>
              <a:t>09 /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115568"/>
            <a:ext cx="50749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0"/>
              </a:spcAft>
            </a:pPr>
            <a:r>
              <a:rPr sz="1280" b="0">
                <a:solidFill>
                  <a:srgbClr val="1F2937"/>
                </a:solidFill>
                <a:latin typeface="微软雅黑"/>
                <a:ea typeface="微软雅黑"/>
              </a:rPr>
              <a:t>▪ 建计划 → 预算预留（占可支配金额，不是假冻结）</a:t>
            </a:r>
          </a:p>
          <a:p>
            <a:pPr>
              <a:spcBef>
                <a:spcPts val="800"/>
              </a:spcBef>
              <a:spcAft>
                <a:spcPts val="0"/>
              </a:spcAft>
            </a:pPr>
            <a:r>
              <a:rPr sz="1280" b="0">
                <a:solidFill>
                  <a:srgbClr val="1F2937"/>
                </a:solidFill>
                <a:latin typeface="微软雅黑"/>
                <a:ea typeface="微软雅黑"/>
              </a:rPr>
              <a:t>▪ 生日前 2 天 09:00 触发检查 + 提醒；未授权时付款重新确认</a:t>
            </a:r>
          </a:p>
          <a:p>
            <a:pPr>
              <a:spcBef>
                <a:spcPts val="800"/>
              </a:spcBef>
              <a:spcAft>
                <a:spcPts val="0"/>
              </a:spcAft>
            </a:pPr>
            <a:r>
              <a:rPr sz="1280" b="0">
                <a:solidFill>
                  <a:srgbClr val="D97706"/>
                </a:solidFill>
                <a:latin typeface="微软雅黑"/>
                <a:ea typeface="微软雅黑"/>
              </a:rPr>
              <a:t>▪ 一次性授权绑定计划版本 + 项目 + 金额；改动即失效</a:t>
            </a:r>
          </a:p>
          <a:p>
            <a:pPr>
              <a:spcBef>
                <a:spcPts val="800"/>
              </a:spcBef>
              <a:spcAft>
                <a:spcPts val="0"/>
              </a:spcAft>
            </a:pPr>
            <a:r>
              <a:rPr sz="1280" b="1">
                <a:solidFill>
                  <a:srgbClr val="DC2626"/>
                </a:solidFill>
                <a:latin typeface="微软雅黑"/>
                <a:ea typeface="微软雅黑"/>
              </a:rPr>
              <a:t>▪ 默认只提醒；显式一次性授权且重判绿/黄才自动付款，红/变更暂停</a:t>
            </a:r>
          </a:p>
          <a:p>
            <a:pPr>
              <a:spcBef>
                <a:spcPts val="300"/>
              </a:spcBef>
              <a:spcAft>
                <a:spcPts val="0"/>
              </a:spcAft>
            </a:pPr>
            <a:r>
              <a:rPr sz="1120" b="0">
                <a:solidFill>
                  <a:srgbClr val="6B7280"/>
                </a:solidFill>
                <a:latin typeface="微软雅黑"/>
                <a:ea typeface="微软雅黑"/>
              </a:rPr>
              <a:t>– 刷新/重启后计划仍在；J4 旅程覆盖建计划 + 刷新恢复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5394960"/>
            <a:ext cx="54864" cy="548640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5394960"/>
            <a:ext cx="4572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微软雅黑"/>
                <a:ea typeface="微软雅黑"/>
              </a:rPr>
              <a:t>跨场景不是把三个功能串起来，是让一句话跨过多个闸门而规则不变形。</a:t>
            </a:r>
          </a:p>
        </p:txBody>
      </p:sp>
      <p:pic>
        <p:nvPicPr>
          <p:cNvPr id="8" name="Picture 7" descr="journey_04_birthday_reloa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6440" y="1115568"/>
            <a:ext cx="5989320" cy="3992879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806440" y="5181599"/>
            <a:ext cx="5989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950" b="0">
                <a:solidFill>
                  <a:srgbClr val="6B7280"/>
                </a:solidFill>
                <a:latin typeface="微软雅黑"/>
                <a:ea typeface="微软雅黑"/>
              </a:rPr>
              <a:t>生日计划刷新后仍在（J4 旅程实拍）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309360"/>
            <a:ext cx="1109167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6B7280"/>
                </a:solidFill>
                <a:latin typeface="微软雅黑"/>
                <a:ea typeface="微软雅黑"/>
              </a:rPr>
              <a:t>出处：app/birthday.py / app/plans.py / plan_authorizations；tests/test_birthday_budget.py、test_birthday_authorization.py。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6272784"/>
            <a:ext cx="11091672" cy="13716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473952"/>
            <a:ext cx="5852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第 9 / 12 页 · 累计 6:40 / 10:00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35040" y="6473952"/>
            <a:ext cx="56052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banking-agent · 2026 金融科技大赛人工智能赛道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77824"/>
          </a:xfrm>
          <a:prstGeom prst="rect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46304"/>
            <a:ext cx="10424160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FFFFFF"/>
                </a:solidFill>
                <a:latin typeface="微软雅黑"/>
                <a:ea typeface="微软雅黑"/>
              </a:rPr>
              <a:t>把「智能」落在可验证的地方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69880" y="274320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C7D6E4"/>
                </a:solidFill>
                <a:latin typeface="微软雅黑"/>
                <a:ea typeface="微软雅黑"/>
              </a:rPr>
              <a:t>10 / 12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188720"/>
            <a:ext cx="3246120" cy="34290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D9770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325880"/>
            <a:ext cx="2971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D97706"/>
                </a:solidFill>
                <a:latin typeface="微软雅黑"/>
                <a:ea typeface="微软雅黑"/>
              </a:rPr>
              <a:t>订阅推断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847088"/>
            <a:ext cx="2971800" cy="2697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80" b="0">
                <a:solidFill>
                  <a:srgbClr val="1F2937"/>
                </a:solidFill>
                <a:latin typeface="微软雅黑"/>
                <a:ea typeface="微软雅黑"/>
              </a:rPr>
              <a:t>· 6 个月流水 → 同商户、间隔≈月/年、金额稳定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80" b="0">
                <a:solidFill>
                  <a:srgbClr val="1F2937"/>
                </a:solidFill>
                <a:latin typeface="微软雅黑"/>
                <a:ea typeface="微软雅黑"/>
              </a:rPr>
              <a:t>· 给置信度 + 证据笔，不是黑盒判断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80" b="0">
                <a:solidFill>
                  <a:srgbClr val="1F2937"/>
                </a:solidFill>
                <a:latin typeface="微软雅黑"/>
                <a:ea typeface="微软雅黑"/>
              </a:rPr>
              <a:t>· 近 7 天可能扣费；名字唯一匹配才允许取消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80" b="0">
                <a:solidFill>
                  <a:srgbClr val="1F2937"/>
                </a:solidFill>
                <a:latin typeface="微软雅黑"/>
                <a:ea typeface="微软雅黑"/>
              </a:rPr>
              <a:t>· 只能停银行侧代扣，界面写明不能注销商户会员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80" b="0">
                <a:solidFill>
                  <a:srgbClr val="1F2937"/>
                </a:solidFill>
                <a:latin typeface="微软雅黑"/>
                <a:ea typeface="微软雅黑"/>
              </a:rPr>
              <a:t>· 证据：tests/test_subscriptions.py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43400" y="1188720"/>
            <a:ext cx="3246120" cy="34290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80560" y="1325880"/>
            <a:ext cx="2971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DC2626"/>
                </a:solidFill>
                <a:latin typeface="微软雅黑"/>
                <a:ea typeface="微软雅黑"/>
              </a:rPr>
              <a:t>投资者适当性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80560" y="1847088"/>
            <a:ext cx="2971800" cy="2697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80" b="0">
                <a:solidFill>
                  <a:srgbClr val="1F2937"/>
                </a:solidFill>
                <a:latin typeface="微软雅黑"/>
                <a:ea typeface="微软雅黑"/>
              </a:rPr>
              <a:t>· 5 题问卷 → C1–C5；未测评/超等级一律拒买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80" b="0">
                <a:solidFill>
                  <a:srgbClr val="1F2937"/>
                </a:solidFill>
                <a:latin typeface="微软雅黑"/>
                <a:ea typeface="微软雅黑"/>
              </a:rPr>
              <a:t>· 产品列表/风险等级/申购赎回；R10 红灯三因子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80" b="0">
                <a:solidFill>
                  <a:srgbClr val="1F2937"/>
                </a:solidFill>
                <a:latin typeface="微软雅黑"/>
                <a:ea typeface="微软雅黑"/>
              </a:rPr>
              <a:t>· 问卷是演示简化版，不是监管口径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80" b="0">
                <a:solidFill>
                  <a:srgbClr val="1F2937"/>
                </a:solidFill>
                <a:latin typeface="微软雅黑"/>
                <a:ea typeface="微软雅黑"/>
              </a:rPr>
              <a:t>· 拒售也是「正确完成」，不是失败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80" b="0">
                <a:solidFill>
                  <a:srgbClr val="1F2937"/>
                </a:solidFill>
                <a:latin typeface="微软雅黑"/>
                <a:ea typeface="微软雅黑"/>
              </a:rPr>
              <a:t>· 证据：tests/test_suitability.py（17 条）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138160" y="1188720"/>
            <a:ext cx="3246120" cy="34290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16A3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75320" y="1325880"/>
            <a:ext cx="2971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6A34A"/>
                </a:solidFill>
                <a:latin typeface="微软雅黑"/>
                <a:ea typeface="微软雅黑"/>
              </a:rPr>
              <a:t>人工接管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75320" y="1847088"/>
            <a:ext cx="2971800" cy="2697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80" b="0">
                <a:solidFill>
                  <a:srgbClr val="1F2937"/>
                </a:solidFill>
                <a:latin typeface="微软雅黑"/>
                <a:ea typeface="微软雅黑"/>
              </a:rPr>
              <a:t>· 7 态队列；条件 UPDATE，同一任务只有一个操作员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80" b="0">
                <a:solidFill>
                  <a:srgbClr val="1F2937"/>
                </a:solidFill>
                <a:latin typeface="微软雅黑"/>
                <a:ea typeface="微软雅黑"/>
              </a:rPr>
              <a:t>· 恢复前重查卡片/授权/账户/余额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80" b="0">
                <a:solidFill>
                  <a:srgbClr val="1F2937"/>
                </a:solidFill>
                <a:latin typeface="微软雅黑"/>
                <a:ea typeface="微软雅黑"/>
              </a:rPr>
              <a:t>· 不重放已完成的资金节点；失败落 failed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80" b="0">
                <a:solidFill>
                  <a:srgbClr val="1F2937"/>
                </a:solidFill>
                <a:latin typeface="微软雅黑"/>
                <a:ea typeface="微软雅黑"/>
              </a:rPr>
              <a:t>· operator 只是审计字符串，无 RBAC（如实说）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080" b="0">
                <a:solidFill>
                  <a:srgbClr val="1F2937"/>
                </a:solidFill>
                <a:latin typeface="微软雅黑"/>
                <a:ea typeface="微软雅黑"/>
              </a:rPr>
              <a:t>· 证据：tests/test_handoff.py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4773168"/>
            <a:ext cx="54864" cy="384048"/>
          </a:xfrm>
          <a:prstGeom prst="rect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4773168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6B7280"/>
                </a:solidFill>
                <a:latin typeface="微软雅黑"/>
                <a:ea typeface="微软雅黑"/>
              </a:rPr>
              <a:t>对应测试全绿：tests/test_subscriptions.py（15 条）/ test_suitability.py（17 条）/ test_handoff.py（13 条）；旅程 J3/J4/J5 覆盖同名消歧、生日计划、提醒处理。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40" y="5349240"/>
            <a:ext cx="54864" cy="502920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" y="5349240"/>
            <a:ext cx="108813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1F2937"/>
                </a:solidFill>
                <a:latin typeface="微软雅黑"/>
                <a:ea typeface="微软雅黑"/>
              </a:rPr>
              <a:t>这三件事都不是「再加一个功能」，是把边界做成可复核的证据。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6309360"/>
            <a:ext cx="1109167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6B7280"/>
                </a:solidFill>
                <a:latin typeface="微软雅黑"/>
                <a:ea typeface="微软雅黑"/>
              </a:rPr>
              <a:t>出处：app/subscriptions.py、app/suitability.py、app/handoffs.py；对应测试 test_subscriptions.py / test_suitability.py / test_handoff.py。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48640" y="6272784"/>
            <a:ext cx="11091672" cy="13716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48640" y="6473952"/>
            <a:ext cx="5852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第 10 / 12 页 · 累计 7:20 / 10:00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035040" y="6473952"/>
            <a:ext cx="56052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banking-agent · 2026 金融科技大赛人工智能赛道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77824"/>
          </a:xfrm>
          <a:prstGeom prst="rect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46304"/>
            <a:ext cx="10424160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FFFFFF"/>
                </a:solidFill>
                <a:latin typeface="微软雅黑"/>
                <a:ea typeface="微软雅黑"/>
              </a:rPr>
              <a:t>红队 43 条与证据链：不靠一张嘴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69880" y="274320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C7D6E4"/>
                </a:solidFill>
                <a:latin typeface="微软雅黑"/>
                <a:ea typeface="微软雅黑"/>
              </a:rPr>
              <a:t>11 /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115568"/>
            <a:ext cx="110642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900"/>
              </a:spcBef>
              <a:spcAft>
                <a:spcPts val="0"/>
              </a:spcAft>
            </a:pPr>
            <a:r>
              <a:rPr sz="1500" b="0">
                <a:solidFill>
                  <a:srgbClr val="1F2937"/>
                </a:solidFill>
                <a:latin typeface="微软雅黑"/>
                <a:ea typeface="微软雅黑"/>
              </a:rPr>
              <a:t>▪ 43 条五类：诱导转账 10 / 越权 10 / 注入 10 / 信息套取 8 / 异常与稳定性 5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500" b="1">
                <a:solidFill>
                  <a:srgbClr val="16A34A"/>
                </a:solidFill>
                <a:latin typeface="微软雅黑"/>
                <a:ea typeface="微软雅黑"/>
              </a:rPr>
              <a:t>▪ PASS 43 / FAIL 0（2026-10-25 复跑；离线 ScriptedAdapter，约 12 秒，自动判定七列表）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250" b="0">
                <a:solidFill>
                  <a:srgbClr val="6B7280"/>
                </a:solidFill>
                <a:latin typeface="微软雅黑"/>
                <a:ea typeface="微软雅黑"/>
              </a:rPr>
              <a:t>– 历史 14 条 FAIL 已逐条归因：0 产品缺陷 / 8 夹具口径 / 6 设计取舍；must_not 全过、资金零变动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500" b="0">
                <a:solidFill>
                  <a:srgbClr val="1F2937"/>
                </a:solidFill>
                <a:latin typeface="微软雅黑"/>
                <a:ea typeface="微软雅黑"/>
              </a:rPr>
              <a:t>▪ 1632 passed / 4 skipped ｜ e2e 13/13 ｜ 浏览器旅程 7/7 ｜ 前端 66/66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500" b="0">
                <a:solidFill>
                  <a:srgbClr val="1F2937"/>
                </a:solidFill>
                <a:latin typeface="微软雅黑"/>
                <a:ea typeface="微软雅黑"/>
              </a:rPr>
              <a:t>▪ 异常熔断：5 分钟窗口 3 次安全拒绝 → 锁定 60 秒，半开只放行一次试探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500" b="0">
                <a:solidFill>
                  <a:srgbClr val="1F2937"/>
                </a:solidFill>
                <a:latin typeface="微软雅黑"/>
                <a:ea typeface="微软雅黑"/>
              </a:rPr>
              <a:t>▪ 审计链篡改当场被数据库触发器拒绝；verify 仍返回 ok=true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4041648"/>
            <a:ext cx="2587752" cy="868680"/>
          </a:xfrm>
          <a:prstGeom prst="roundRect">
            <a:avLst/>
          </a:prstGeom>
          <a:solidFill>
            <a:srgbClr val="F3F6F9"/>
          </a:solidFill>
          <a:ln w="9525">
            <a:solidFill>
              <a:srgbClr val="D8DF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4114800"/>
            <a:ext cx="2368296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0F2942"/>
                </a:solidFill>
                <a:latin typeface="微软雅黑"/>
                <a:ea typeface="微软雅黑"/>
              </a:rPr>
              <a:t>43 / 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4553712"/>
            <a:ext cx="236829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红队用例 PASS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91840" y="4041648"/>
            <a:ext cx="2587752" cy="868680"/>
          </a:xfrm>
          <a:prstGeom prst="roundRect">
            <a:avLst/>
          </a:prstGeom>
          <a:solidFill>
            <a:srgbClr val="F3F6F9"/>
          </a:solidFill>
          <a:ln w="9525">
            <a:solidFill>
              <a:srgbClr val="D8DF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401568" y="4114800"/>
            <a:ext cx="2368296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0F2942"/>
                </a:solidFill>
                <a:latin typeface="微软雅黑"/>
                <a:ea typeface="微软雅黑"/>
              </a:rPr>
              <a:t>1632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01568" y="4553712"/>
            <a:ext cx="236829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pytest passed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035040" y="4041648"/>
            <a:ext cx="2587752" cy="868680"/>
          </a:xfrm>
          <a:prstGeom prst="roundRect">
            <a:avLst/>
          </a:prstGeom>
          <a:solidFill>
            <a:srgbClr val="F3F6F9"/>
          </a:solidFill>
          <a:ln w="9525">
            <a:solidFill>
              <a:srgbClr val="D8DF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44768" y="4114800"/>
            <a:ext cx="2368296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0F2942"/>
                </a:solidFill>
                <a:latin typeface="微软雅黑"/>
                <a:ea typeface="微软雅黑"/>
              </a:rPr>
              <a:t>7 / 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44768" y="4553712"/>
            <a:ext cx="236829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浏览器旅程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778240" y="4041648"/>
            <a:ext cx="2587752" cy="868680"/>
          </a:xfrm>
          <a:prstGeom prst="roundRect">
            <a:avLst/>
          </a:prstGeom>
          <a:solidFill>
            <a:srgbClr val="F3F6F9"/>
          </a:solidFill>
          <a:ln w="9525">
            <a:solidFill>
              <a:srgbClr val="D8DF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887967" y="4114800"/>
            <a:ext cx="2368296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0F2942"/>
                </a:solidFill>
                <a:latin typeface="微软雅黑"/>
                <a:ea typeface="微软雅黑"/>
              </a:rPr>
              <a:t>13 / 13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887967" y="4553712"/>
            <a:ext cx="236829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e2e 步数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5285232"/>
            <a:ext cx="54864" cy="640080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" y="5285232"/>
            <a:ext cx="1088136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1F2937"/>
                </a:solidFill>
                <a:latin typeface="微软雅黑"/>
                <a:ea typeface="微软雅黑"/>
              </a:rPr>
              <a:t>安全不是「我们挡住了多少攻击」，是「攻击面在哪一层、失败时系统往哪边倒」。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6309360"/>
            <a:ext cx="1109167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6B7280"/>
                </a:solidFill>
                <a:latin typeface="微软雅黑"/>
                <a:ea typeface="微软雅黑"/>
              </a:rPr>
              <a:t>出处：tests/redteam/cases.yaml（43 条）、scripts/redteam*；pytest 2026-10-25 终测；旅程 docs/交付/browser_journeys.json。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48640" y="6272784"/>
            <a:ext cx="11091672" cy="13716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48640" y="6473952"/>
            <a:ext cx="5852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第 11 / 12 页 · 累计 8:10 / 10:00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035040" y="6473952"/>
            <a:ext cx="56052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banking-agent · 2026 金融科技大赛人工智能赛道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77824"/>
          </a:xfrm>
          <a:prstGeom prst="rect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46304"/>
            <a:ext cx="10424160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FFFFFF"/>
                </a:solidFill>
                <a:latin typeface="微软雅黑"/>
                <a:ea typeface="微软雅黑"/>
              </a:rPr>
              <a:t>指标、不足与收尾：先把丑话说完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69880" y="274320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C7D6E4"/>
                </a:solidFill>
                <a:latin typeface="微软雅黑"/>
                <a:ea typeface="微软雅黑"/>
              </a:rPr>
              <a:t>12 /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115568"/>
            <a:ext cx="110642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900"/>
              </a:spcBef>
              <a:spcAft>
                <a:spcPts val="0"/>
              </a:spcAft>
            </a:pPr>
            <a:r>
              <a:rPr sz="1500" b="1">
                <a:solidFill>
                  <a:srgbClr val="16A34A"/>
                </a:solidFill>
                <a:latin typeface="微软雅黑"/>
                <a:ea typeface="微软雅黑"/>
              </a:rPr>
              <a:t>▪ 指标：35 工具 ｜ 13 规则 ｜ 33 表 ｜ 66 审计事件 ｜ 47 路由 ｜ 6 场景 ｜ 1632 测试 ｜ 43 红队 ｜ 7 旅程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250" b="0">
                <a:solidFill>
                  <a:srgbClr val="6B7280"/>
                </a:solidFill>
                <a:latin typeface="微软雅黑"/>
                <a:ea typeface="微软雅黑"/>
              </a:rPr>
              <a:t>– 模型：DeepSeek 主脑 + 离线脚本桩；provider_check 4/4；A/B 8 轮 80 例单次采样，方向翻转不宣称提升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500" b="1">
                <a:solidFill>
                  <a:srgbClr val="DC2626"/>
                </a:solidFill>
                <a:latin typeface="微软雅黑"/>
                <a:ea typeface="微软雅黑"/>
              </a:rPr>
              <a:t>▪ 不足（照实说）：真实短信/人脸未接（演示桩）；只有 Web，无独立 App/IM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250" b="1">
                <a:solidFill>
                  <a:srgbClr val="DC2626"/>
                </a:solidFill>
                <a:latin typeface="微软雅黑"/>
                <a:ea typeface="微软雅黑"/>
              </a:rPr>
              <a:t>– 规划是模板 DAG，不是开放域；单用户、无 RBAC；不可宣称已对齐生产银行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250" b="0">
                <a:solidFill>
                  <a:srgbClr val="6B7280"/>
                </a:solidFill>
                <a:latin typeface="微软雅黑"/>
                <a:ea typeface="微软雅黑"/>
              </a:rPr>
              <a:t>– 能力令牌密钥需配置，忘了配黄红灯 fail closed；后台节拍单进程，进程退出即停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250" b="0">
                <a:solidFill>
                  <a:srgbClr val="6B7280"/>
                </a:solidFill>
                <a:latin typeface="微软雅黑"/>
                <a:ea typeface="微软雅黑"/>
              </a:rPr>
              <a:t>– 知识层：40 术语 / 25 实体 / 22 关系 / 11 意图 / 10 工作流 / 34 来源；只参与理解与解释，不进裁决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250" b="0">
                <a:solidFill>
                  <a:srgbClr val="6B7280"/>
                </a:solidFill>
                <a:latin typeface="微软雅黑"/>
                <a:ea typeface="微软雅黑"/>
              </a:rPr>
              <a:t>– 沙箱=消除执行面（0 命中）不是容器；理财期限/流动性/费率为 contest_simulation；真实 MFA 为演示桩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250" b="0">
                <a:solidFill>
                  <a:srgbClr val="6B7280"/>
                </a:solidFill>
                <a:latin typeface="微软雅黑"/>
                <a:ea typeface="微软雅黑"/>
              </a:rPr>
              <a:t>– 全部数据为本地种子虚构，不接真实银行/支付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500" b="1">
                <a:solidFill>
                  <a:srgbClr val="DC2626"/>
                </a:solidFill>
                <a:latin typeface="微软雅黑"/>
                <a:ea typeface="微软雅黑"/>
              </a:rPr>
              <a:t>▪ 收尾：它知道自己还不能做什么，也知道自己为什么不能 —— 这两件事比多几个功能重要。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5285232"/>
            <a:ext cx="54864" cy="640080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5285232"/>
            <a:ext cx="1088136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1F2937"/>
                </a:solidFill>
                <a:latin typeface="微软雅黑"/>
                <a:ea typeface="微软雅黑"/>
              </a:rPr>
              <a:t>欢迎现场追问：七步校验、43 条红队、审计链，我们都能当场跑。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309360"/>
            <a:ext cx="1109167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6B7280"/>
                </a:solidFill>
                <a:latin typeface="微软雅黑"/>
                <a:ea typeface="微软雅黑"/>
              </a:rPr>
              <a:t>出处：README「已知限制」与「数字台账」；安全自评报告 R-01～R-20；manifest 见 docs/benchmark/release_manifest.json。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6272784"/>
            <a:ext cx="11091672" cy="13716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473952"/>
            <a:ext cx="5852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第 12 / 12 页 · 累计 8:55 / 10:00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35040" y="6473952"/>
            <a:ext cx="56052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banking-agent · 2026 金融科技大赛人工智能赛道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